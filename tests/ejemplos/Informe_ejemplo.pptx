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Fallas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Jul</c:v>
                </c:pt>
                <c:pt idx="1">
                  <c:v>Ago</c:v>
                </c:pt>
                <c:pt idx="2">
                  <c:v>Sep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</c:v>
                </c:pt>
                <c:pt idx="1">
                  <c:v>27</c:v>
                </c:pt>
                <c:pt idx="2">
                  <c:v>42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0"/>
              <a:t>Informe mensual de mantenimiento – </a:t>
            </a:r>
            <a:r>
              <a:rPr b="1">
                <a:solidFill>
                  <a:srgbClr val="D41920"/>
                </a:solidFill>
              </a:rPr>
              <a:t>Septi</a:t>
            </a:r>
            <a:r>
              <a:rPr b="1">
                <a:solidFill>
                  <a:srgbClr val="D41920"/>
                </a:solidFill>
              </a:rPr>
              <a:t>embre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Ingeniería de Mantenimiento · RAMS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Confiabilidad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1620000"/>
            <a:ext cx="5400000" cy="2700000"/>
          </a:xfrm>
          <a:prstGeom prst="rect">
            <a:avLst/>
          </a:prstGeom>
        </p:spPr>
      </p:pic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300000" y="1620000"/>
          <a:ext cx="5400000" cy="270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0000" y="4680000"/>
            <a:ext cx="1116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Eventos registrados en </a:t>
            </a:r>
            <a:r>
              <a:rPr sz="1600"/>
              <a:t>Septiembre</a:t>
            </a:r>
            <a:r>
              <a:rPr sz="1600"/>
              <a:t> 2026: 42 (MKBF 12.500 km)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60000"/>
            <a:ext cx="12192119" cy="198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Disponibilidad de flota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540000" y="1620000"/>
            <a:ext cx="5040000" cy="3060000"/>
            <a:chOff x="540000" y="1620000"/>
            <a:chExt cx="5040000" cy="3060000"/>
          </a:xfrm>
        </p:grpSpPr>
        <p:sp>
          <p:nvSpPr>
            <p:cNvPr id="4" name="TextBox 3"/>
            <p:cNvSpPr txBox="1"/>
            <p:nvPr/>
          </p:nvSpPr>
          <p:spPr>
            <a:xfrm>
              <a:off x="540000" y="1620000"/>
              <a:ext cx="5040000" cy="4320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Locomotoras GT22</a:t>
              </a:r>
            </a:p>
          </p:txBody>
        </p:sp>
        <p:pic>
          <p:nvPicPr>
            <p:cNvPr id="5" name="Picture 4" descr="imag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0000" y="2160000"/>
              <a:ext cx="5040000" cy="2520000"/>
            </a:xfrm>
            <a:prstGeom prst="rect">
              <a:avLst/>
            </a:prstGeom>
          </p:spPr>
        </p:pic>
      </p:grp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00000" y="1620000"/>
          <a:ext cx="5400000" cy="16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1800000"/>
                <a:gridCol w="1800000"/>
              </a:tblGrid>
              <a:tr h="540000">
                <a:tc>
                  <a:txBody>
                    <a:bodyPr/>
                    <a:lstStyle/>
                    <a:p>
                      <a:r>
                        <a:t>Flota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Disp.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Meta %</a:t>
                      </a:r>
                    </a:p>
                  </a:txBody>
                  <a:tcPr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t>GT22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87,5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t>Coches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Eventos destacados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r>
              <a:t>Detalle de los eventos de Septiembre 2026.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6300000"/>
            <a:ext cx="72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Fuente: planilla Indicadores RAMS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